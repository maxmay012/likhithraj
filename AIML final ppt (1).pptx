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charts/chart4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68" r:id="rId15"/>
    <p:sldId id="269" r:id="rId16"/>
    <p:sldId id="276" r:id="rId17"/>
    <p:sldId id="270" r:id="rId18"/>
    <p:sldId id="271" r:id="rId19"/>
    <p:sldId id="272" r:id="rId20"/>
    <p:sldId id="273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1" i="0" u="none" strike="noStrike" dirty="0">
                <a:solidFill>
                  <a:srgbClr val="000000"/>
                </a:solidFill>
                <a:latin typeface="Arial"/>
              </a:rPr>
              <a:t>Plant Height (cm) at Growth Stages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 DAS</c:v>
                </c:pt>
              </c:strCache>
            </c:strRef>
          </c:tx>
          <c:spPr>
            <a:solidFill>
              <a:srgbClr val="A8D5B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T1
0%</c:v>
                </c:pt>
                <c:pt idx="1">
                  <c:v>T2
50%</c:v>
                </c:pt>
                <c:pt idx="2">
                  <c:v>T3
75%</c:v>
                </c:pt>
                <c:pt idx="3">
                  <c:v>T4
100%</c:v>
                </c:pt>
                <c:pt idx="4">
                  <c:v>T5
125%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38.200000000000003</c:v>
                </c:pt>
                <c:pt idx="1">
                  <c:v>52.4</c:v>
                </c:pt>
                <c:pt idx="2">
                  <c:v>61.5</c:v>
                </c:pt>
                <c:pt idx="3">
                  <c:v>78.3</c:v>
                </c:pt>
                <c:pt idx="4">
                  <c:v>82.1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15-4A48-82FA-3C886FE24C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60 DAS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T1
0%</c:v>
                </c:pt>
                <c:pt idx="1">
                  <c:v>T2
50%</c:v>
                </c:pt>
                <c:pt idx="2">
                  <c:v>T3
75%</c:v>
                </c:pt>
                <c:pt idx="3">
                  <c:v>T4
100%</c:v>
                </c:pt>
                <c:pt idx="4">
                  <c:v>T5
125%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68.5</c:v>
                </c:pt>
                <c:pt idx="1">
                  <c:v>82.3</c:v>
                </c:pt>
                <c:pt idx="2">
                  <c:v>93.7</c:v>
                </c:pt>
                <c:pt idx="3">
                  <c:v>115.2</c:v>
                </c:pt>
                <c:pt idx="4">
                  <c:v>121.8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15-4A48-82FA-3C886FE24CB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Harvest</c:v>
                </c:pt>
              </c:strCache>
            </c:strRef>
          </c:tx>
          <c:spPr>
            <a:solidFill>
              <a:srgbClr val="1A3C1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T1
0%</c:v>
                </c:pt>
                <c:pt idx="1">
                  <c:v>T2
50%</c:v>
                </c:pt>
                <c:pt idx="2">
                  <c:v>T3
75%</c:v>
                </c:pt>
                <c:pt idx="3">
                  <c:v>T4
100%</c:v>
                </c:pt>
                <c:pt idx="4">
                  <c:v>T5
125%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85.3</c:v>
                </c:pt>
                <c:pt idx="1">
                  <c:v>102.6</c:v>
                </c:pt>
                <c:pt idx="2">
                  <c:v>118.4</c:v>
                </c:pt>
                <c:pt idx="3">
                  <c:v>142.69999999999999</c:v>
                </c:pt>
                <c:pt idx="4">
                  <c:v>149.30000000000001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15-4A48-82FA-3C886FE24C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1" i="0" u="none" strike="noStrike" dirty="0">
                <a:solidFill>
                  <a:srgbClr val="000000"/>
                </a:solidFill>
                <a:latin typeface="Arial"/>
              </a:rPr>
              <a:t>Green Pod Yield (kg/ha) by NPK Treatment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Green Pod Yield (kg/ha)</c:v>
                </c:pt>
              </c:strCache>
            </c:strRef>
          </c:tx>
          <c:spPr>
            <a:solidFill>
              <a:srgbClr val="9E9E9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E9E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5E8-4D6C-BAB4-902EFC8A3C46}"/>
              </c:ext>
            </c:extLst>
          </c:dPt>
          <c:dPt>
            <c:idx val="1"/>
            <c:invertIfNegative val="0"/>
            <c:bubble3D val="0"/>
            <c:spPr>
              <a:solidFill>
                <a:srgbClr val="4DB6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5E8-4D6C-BAB4-902EFC8A3C46}"/>
              </c:ext>
            </c:extLst>
          </c:dPt>
          <c:dPt>
            <c:idx val="2"/>
            <c:invertIfNegative val="0"/>
            <c:bubble3D val="0"/>
            <c:spPr>
              <a:solidFill>
                <a:srgbClr val="66BB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5E8-4D6C-BAB4-902EFC8A3C46}"/>
              </c:ext>
            </c:extLst>
          </c:dPt>
          <c:dPt>
            <c:idx val="3"/>
            <c:invertIfNegative val="0"/>
            <c:bubble3D val="0"/>
            <c:spPr>
              <a:solidFill>
                <a:srgbClr val="FFC10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5E8-4D6C-BAB4-902EFC8A3C46}"/>
              </c:ext>
            </c:extLst>
          </c:dPt>
          <c:dPt>
            <c:idx val="4"/>
            <c:invertIfNegative val="0"/>
            <c:bubble3D val="0"/>
            <c:spPr>
              <a:solidFill>
                <a:srgbClr val="A188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5E8-4D6C-BAB4-902EFC8A3C4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T1 (0%)</c:v>
                </c:pt>
                <c:pt idx="1">
                  <c:v>T2 (50%)</c:v>
                </c:pt>
                <c:pt idx="2">
                  <c:v>T3 (75%)</c:v>
                </c:pt>
                <c:pt idx="3">
                  <c:v>T4 (100%)</c:v>
                </c:pt>
                <c:pt idx="4">
                  <c:v>T5 (125%)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1875</c:v>
                </c:pt>
                <c:pt idx="1">
                  <c:v>2137.5</c:v>
                </c:pt>
                <c:pt idx="2">
                  <c:v>2400</c:v>
                </c:pt>
                <c:pt idx="3">
                  <c:v>3500</c:v>
                </c:pt>
                <c:pt idx="4">
                  <c:v>2437.5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5E8-4D6C-BAB4-902EFC8A3C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1" i="0" u="none" strike="noStrike" dirty="0">
                <a:solidFill>
                  <a:srgbClr val="000000"/>
                </a:solidFill>
                <a:latin typeface="Arial"/>
              </a:rPr>
              <a:t>Polynomial Regression: NPK% vs Yield (kg/ha)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Yield</c:v>
                </c:pt>
              </c:strCache>
            </c:strRef>
          </c:tx>
          <c:spPr>
            <a:ln w="25400" cap="flat">
              <a:solidFill>
                <a:srgbClr val="4CAF5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CAF50"/>
              </a:solidFill>
              <a:ln w="9525" cap="flat">
                <a:solidFill>
                  <a:srgbClr val="4CAF5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0%</c:v>
                </c:pt>
                <c:pt idx="1">
                  <c:v>50%</c:v>
                </c:pt>
                <c:pt idx="2">
                  <c:v>75%</c:v>
                </c:pt>
                <c:pt idx="3">
                  <c:v>100%</c:v>
                </c:pt>
                <c:pt idx="4">
                  <c:v>125%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1875</c:v>
                </c:pt>
                <c:pt idx="1">
                  <c:v>2137.5</c:v>
                </c:pt>
                <c:pt idx="2">
                  <c:v>2400</c:v>
                </c:pt>
                <c:pt idx="3">
                  <c:v>3500</c:v>
                </c:pt>
                <c:pt idx="4">
                  <c:v>2437.5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67C-46D5-AB31-10D3E55BFB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Predicted Curve (Poly Deg.2)</c:v>
                </c:pt>
              </c:strCache>
            </c:strRef>
          </c:tx>
          <c:spPr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0%</c:v>
                </c:pt>
                <c:pt idx="1">
                  <c:v>30%</c:v>
                </c:pt>
                <c:pt idx="2">
                  <c:v>50%</c:v>
                </c:pt>
                <c:pt idx="3">
                  <c:v>75%</c:v>
                </c:pt>
                <c:pt idx="4">
                  <c:v>97.5%</c:v>
                </c:pt>
                <c:pt idx="5">
                  <c:v>100%</c:v>
                </c:pt>
                <c:pt idx="6">
                  <c:v>125%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1820</c:v>
                </c:pt>
                <c:pt idx="1">
                  <c:v>2050</c:v>
                </c:pt>
                <c:pt idx="2">
                  <c:v>2200</c:v>
                </c:pt>
                <c:pt idx="3">
                  <c:v>2700</c:v>
                </c:pt>
                <c:pt idx="4">
                  <c:v>3512</c:v>
                </c:pt>
                <c:pt idx="5">
                  <c:v>3490</c:v>
                </c:pt>
                <c:pt idx="6">
                  <c:v>2380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67C-46D5-AB31-10D3E55BFB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1" i="0" u="none" strike="noStrike" dirty="0">
                <a:solidFill>
                  <a:srgbClr val="000000"/>
                </a:solidFill>
                <a:latin typeface="Arial"/>
              </a:rPr>
              <a:t>Random Forest Feature Importance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 (%)</c:v>
                </c:pt>
              </c:strCache>
            </c:strRef>
          </c:tx>
          <c:spPr>
            <a:solidFill>
              <a:srgbClr val="1A3C1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3C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BC3-4EB4-9451-6C228BA6609A}"/>
              </c:ext>
            </c:extLst>
          </c:dPt>
          <c:dPt>
            <c:idx val="1"/>
            <c:invertIfNegative val="0"/>
            <c:bubble3D val="0"/>
            <c:spPr>
              <a:solidFill>
                <a:srgbClr val="2E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C3-4EB4-9451-6C228BA6609A}"/>
              </c:ext>
            </c:extLst>
          </c:dPt>
          <c:dPt>
            <c:idx val="2"/>
            <c:invertIfNegative val="0"/>
            <c:bubble3D val="0"/>
            <c:spPr>
              <a:solidFill>
                <a:srgbClr val="4CAF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BC3-4EB4-9451-6C228BA6609A}"/>
              </c:ext>
            </c:extLst>
          </c:dPt>
          <c:dPt>
            <c:idx val="3"/>
            <c:invertIfNegative val="0"/>
            <c:bubble3D val="0"/>
            <c:spPr>
              <a:solidFill>
                <a:srgbClr val="0079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BC3-4EB4-9451-6C228BA6609A}"/>
              </c:ext>
            </c:extLst>
          </c:dPt>
          <c:dPt>
            <c:idx val="4"/>
            <c:invertIfNegative val="0"/>
            <c:bubble3D val="0"/>
            <c:spPr>
              <a:solidFill>
                <a:srgbClr val="FFC10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BC3-4EB4-9451-6C228BA6609A}"/>
              </c:ext>
            </c:extLst>
          </c:dPt>
          <c:dPt>
            <c:idx val="5"/>
            <c:invertIfNegative val="0"/>
            <c:bubble3D val="0"/>
            <c:spPr>
              <a:solidFill>
                <a:srgbClr val="9E9E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BC3-4EB4-9451-6C228BA6609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Nitrogen (N)</c:v>
                </c:pt>
                <c:pt idx="1">
                  <c:v>Phosphorus (P)</c:v>
                </c:pt>
                <c:pt idx="2">
                  <c:v>Potassium (K)</c:v>
                </c:pt>
                <c:pt idx="3">
                  <c:v>Temperature</c:v>
                </c:pt>
                <c:pt idx="4">
                  <c:v>Rainfall</c:v>
                </c:pt>
                <c:pt idx="5">
                  <c:v>Soil pH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38.21</c:v>
                </c:pt>
                <c:pt idx="1">
                  <c:v>28.03</c:v>
                </c:pt>
                <c:pt idx="2">
                  <c:v>14.12</c:v>
                </c:pt>
                <c:pt idx="3">
                  <c:v>10.050000000000001</c:v>
                </c:pt>
                <c:pt idx="4">
                  <c:v>6.04</c:v>
                </c:pt>
                <c:pt idx="5">
                  <c:v>3.55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BC3-4EB4-9451-6C228BA660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19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E6B35">
              <a:alpha val="40000"/>
            </a:srgbClr>
          </a:solidFill>
          <a:ln w="12700">
            <a:solidFill>
              <a:srgbClr val="2E6B3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4CAF50">
              <a:alpha val="30000"/>
            </a:srgbClr>
          </a:solidFill>
          <a:ln w="12700">
            <a:solidFill>
              <a:srgbClr val="4CAF5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00796B">
              <a:alpha val="35000"/>
            </a:srgbClr>
          </a:solidFill>
          <a:ln w="12700">
            <a:solidFill>
              <a:srgbClr val="00796B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50" dirty="0">
                <a:solidFill>
                  <a:srgbClr val="FFC10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UNIVERSITY OF AGRICULTURAL SCIENCES, BENGALURU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44529" y="72237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College of Agriculture, GKVK – 560065</a:t>
            </a:r>
            <a:endParaRPr lang="en-US" sz="1400" b="1" dirty="0">
              <a:solidFill>
                <a:schemeClr val="accent6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1719072"/>
            <a:ext cx="84124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OF AI &amp; ML FOR EFFECT OF NPK LEVELS ON GROWTH AND YIELD OF FIELD BEAN CROP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26746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(Dolichos lablab)</a:t>
            </a:r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" y="1115568"/>
            <a:ext cx="84124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EAI – 421: Application of AI &amp; ML in Agriculture (0+10)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70483" y="3447288"/>
            <a:ext cx="3207757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LIKHITHRAJ T N  –  AMB2117  </a:t>
            </a:r>
            <a:r>
              <a:rPr lang="en-US" sz="16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6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MADHUSUDHAN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 –  AMB2121  </a:t>
            </a:r>
            <a:endParaRPr lang="en-US" sz="16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6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MANJANAIK 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AMB2133</a:t>
            </a:r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4529" y="3401568"/>
            <a:ext cx="3029081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TEACHER,</a:t>
            </a:r>
          </a:p>
          <a:p>
            <a:pPr marL="0" indent="0" algn="ctr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IN AGRICULTURE </a:t>
            </a:r>
          </a:p>
          <a:p>
            <a:pPr marL="0" indent="0" algn="ctr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ACADEMIC YEAR 2025–2026</a:t>
            </a:r>
            <a:endParaRPr lang="en-US" sz="1600" b="1" dirty="0"/>
          </a:p>
        </p:txBody>
      </p:sp>
      <p:sp>
        <p:nvSpPr>
          <p:cNvPr id="15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E6B35"/>
          </a:solidFill>
          <a:ln w="12700">
            <a:solidFill>
              <a:srgbClr val="2E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4828032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Agriculture  •  Machine Learning  •  Nutrient Management  •  Random Forest  •  Polynomial Regression</a:t>
            </a:r>
            <a:endParaRPr lang="en-US" sz="105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16185"/>
            <a:ext cx="1215509" cy="119685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1156" y="598565"/>
            <a:ext cx="1214476" cy="12144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1F"/>
          </a:solidFill>
          <a:ln w="12700">
            <a:solidFill>
              <a:srgbClr val="1A3C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Navigation</a:t>
            </a:r>
            <a:endParaRPr lang="en-US" sz="14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25196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502920" cy="6217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801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1225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4813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the project &amp; key findings</a:t>
            </a:r>
            <a:endParaRPr lang="en-US" sz="1100" b="1" dirty="0"/>
          </a:p>
        </p:txBody>
      </p:sp>
      <p:sp>
        <p:nvSpPr>
          <p:cNvPr id="11" name="Shape 9"/>
          <p:cNvSpPr/>
          <p:nvPr/>
        </p:nvSpPr>
        <p:spPr>
          <a:xfrm>
            <a:off x="274320" y="1938528"/>
            <a:ext cx="425196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3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38528"/>
            <a:ext cx="502920" cy="621792"/>
          </a:xfrm>
          <a:prstGeom prst="rect">
            <a:avLst/>
          </a:prstGeom>
          <a:solidFill>
            <a:srgbClr val="2E6B35"/>
          </a:solidFill>
          <a:ln w="12700">
            <a:solidFill>
              <a:srgbClr val="2E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2996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19751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2311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Field Bean, &amp; AIML Rationale</a:t>
            </a:r>
            <a:endParaRPr lang="en-US" sz="1100" b="1" dirty="0"/>
          </a:p>
        </p:txBody>
      </p:sp>
      <p:sp>
        <p:nvSpPr>
          <p:cNvPr id="16" name="Shape 14"/>
          <p:cNvSpPr/>
          <p:nvPr/>
        </p:nvSpPr>
        <p:spPr>
          <a:xfrm>
            <a:off x="274320" y="2688336"/>
            <a:ext cx="425196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88336"/>
            <a:ext cx="502920" cy="6217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77977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2724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of Literature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9809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 applications in agriculture (2014–2024)</a:t>
            </a:r>
            <a:endParaRPr lang="en-US" sz="1100" b="1" dirty="0"/>
          </a:p>
        </p:txBody>
      </p:sp>
      <p:sp>
        <p:nvSpPr>
          <p:cNvPr id="21" name="Shape 19"/>
          <p:cNvSpPr/>
          <p:nvPr/>
        </p:nvSpPr>
        <p:spPr>
          <a:xfrm>
            <a:off x="274320" y="3438144"/>
            <a:ext cx="425196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3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38144"/>
            <a:ext cx="502920" cy="621792"/>
          </a:xfrm>
          <a:prstGeom prst="rect">
            <a:avLst/>
          </a:prstGeom>
          <a:solidFill>
            <a:srgbClr val="2E6B35"/>
          </a:solidFill>
          <a:ln w="12700">
            <a:solidFill>
              <a:srgbClr val="2E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5295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8680" y="34747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3730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research objectives</a:t>
            </a:r>
            <a:endParaRPr lang="en-US" sz="1100" b="1" dirty="0"/>
          </a:p>
        </p:txBody>
      </p:sp>
      <p:sp>
        <p:nvSpPr>
          <p:cNvPr id="26" name="Shape 24"/>
          <p:cNvSpPr/>
          <p:nvPr/>
        </p:nvSpPr>
        <p:spPr>
          <a:xfrm>
            <a:off x="274320" y="4187952"/>
            <a:ext cx="425196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187952"/>
            <a:ext cx="502920" cy="6217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27939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68680" y="4224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 &amp; Requirements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4480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site, equipment, &amp; software stack</a:t>
            </a:r>
            <a:endParaRPr lang="en-US" sz="1100" b="1" dirty="0"/>
          </a:p>
        </p:txBody>
      </p:sp>
      <p:sp>
        <p:nvSpPr>
          <p:cNvPr id="31" name="Shape 29"/>
          <p:cNvSpPr/>
          <p:nvPr/>
        </p:nvSpPr>
        <p:spPr>
          <a:xfrm>
            <a:off x="4800600" y="1188720"/>
            <a:ext cx="425196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1188720"/>
            <a:ext cx="502920" cy="6217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12801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94960" y="1225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14813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diagram, flowchart, &amp; UML diagrams</a:t>
            </a:r>
            <a:endParaRPr lang="en-US" sz="1100" b="1" dirty="0"/>
          </a:p>
        </p:txBody>
      </p:sp>
      <p:sp>
        <p:nvSpPr>
          <p:cNvPr id="36" name="Shape 34"/>
          <p:cNvSpPr/>
          <p:nvPr/>
        </p:nvSpPr>
        <p:spPr>
          <a:xfrm>
            <a:off x="4800600" y="1938528"/>
            <a:ext cx="425196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3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1938528"/>
            <a:ext cx="502920" cy="621792"/>
          </a:xfrm>
          <a:prstGeom prst="rect">
            <a:avLst/>
          </a:prstGeom>
          <a:solidFill>
            <a:srgbClr val="2E6B35"/>
          </a:solidFill>
          <a:ln w="12700">
            <a:solidFill>
              <a:srgbClr val="2E6B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02996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394960" y="19751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Discussion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94960" y="22311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effects on growth, yield &amp; AIML model results</a:t>
            </a:r>
            <a:endParaRPr lang="en-US" sz="1100" b="1" dirty="0"/>
          </a:p>
        </p:txBody>
      </p:sp>
      <p:sp>
        <p:nvSpPr>
          <p:cNvPr id="41" name="Shape 39"/>
          <p:cNvSpPr/>
          <p:nvPr/>
        </p:nvSpPr>
        <p:spPr>
          <a:xfrm>
            <a:off x="4800600" y="2688336"/>
            <a:ext cx="425196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2688336"/>
            <a:ext cx="502920" cy="6217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277977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394960" y="2724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AIML Model &amp; Predictions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94960" y="29809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 &amp; Random Forest analysis</a:t>
            </a:r>
            <a:endParaRPr lang="en-US" sz="1100" b="1" dirty="0"/>
          </a:p>
        </p:txBody>
      </p:sp>
      <p:sp>
        <p:nvSpPr>
          <p:cNvPr id="46" name="Shape 44"/>
          <p:cNvSpPr/>
          <p:nvPr/>
        </p:nvSpPr>
        <p:spPr>
          <a:xfrm>
            <a:off x="4800600" y="3438144"/>
            <a:ext cx="425196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3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00600" y="3438144"/>
            <a:ext cx="502920" cy="621792"/>
          </a:xfrm>
          <a:prstGeom prst="rect">
            <a:avLst/>
          </a:prstGeom>
          <a:solidFill>
            <a:srgbClr val="2E6B35"/>
          </a:solidFill>
          <a:ln w="12700">
            <a:solidFill>
              <a:srgbClr val="2E6B3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35295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394960" y="34747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Conclusion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394960" y="3730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 and agronomic insights</a:t>
            </a:r>
            <a:endParaRPr lang="en-US" sz="1100" b="1" dirty="0"/>
          </a:p>
        </p:txBody>
      </p:sp>
      <p:sp>
        <p:nvSpPr>
          <p:cNvPr id="51" name="Shape 49"/>
          <p:cNvSpPr/>
          <p:nvPr/>
        </p:nvSpPr>
        <p:spPr>
          <a:xfrm>
            <a:off x="4800600" y="4187952"/>
            <a:ext cx="425196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00600" y="4187952"/>
            <a:ext cx="502920" cy="6217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427939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394960" y="4224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394960" y="4480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directions &amp; IoT integration</a:t>
            </a:r>
            <a:endParaRPr lang="en-US" sz="11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1F"/>
          </a:solidFill>
          <a:ln w="12700">
            <a:solidFill>
              <a:srgbClr val="1A3C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914400"/>
          </a:xfrm>
          <a:prstGeom prst="rect">
            <a:avLst/>
          </a:prstGeom>
          <a:solidFill>
            <a:srgbClr val="1A3C1F"/>
          </a:solidFill>
          <a:ln w="12700">
            <a:solidFill>
              <a:srgbClr val="1A3C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capstone project integrates agronomic field experimentation with computational intelligence to optimize nutrient management for Field Bean (Dolichos lablab) using AI &amp; ML techniques at GKVK, Bengaluru — Rabi 2024.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20116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240280"/>
            <a:ext cx="2011680" cy="2926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258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2578608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RCBD with 5 NPK Treatments × 4 Replications</a:t>
            </a:r>
            <a:endParaRPr lang="en-US" sz="1200" b="1" dirty="0"/>
          </a:p>
        </p:txBody>
      </p:sp>
      <p:sp>
        <p:nvSpPr>
          <p:cNvPr id="12" name="Shape 10"/>
          <p:cNvSpPr/>
          <p:nvPr/>
        </p:nvSpPr>
        <p:spPr>
          <a:xfrm>
            <a:off x="2441448" y="2240280"/>
            <a:ext cx="20116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41448" y="2240280"/>
            <a:ext cx="2011680" cy="29260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7168" y="2258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2578608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 + Random Forest (Scikit-learn)</a:t>
            </a:r>
            <a:endParaRPr lang="en-US" sz="1200" b="1" dirty="0"/>
          </a:p>
        </p:txBody>
      </p:sp>
      <p:sp>
        <p:nvSpPr>
          <p:cNvPr id="16" name="Shape 14"/>
          <p:cNvSpPr/>
          <p:nvPr/>
        </p:nvSpPr>
        <p:spPr>
          <a:xfrm>
            <a:off x="4608576" y="2240280"/>
            <a:ext cx="20116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10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2240280"/>
            <a:ext cx="2011680" cy="29260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4296" y="2258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Best Yield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81728" y="2578608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3500 kg/ha at T4 (100% RDF)</a:t>
            </a:r>
            <a:endParaRPr lang="en-US" sz="1200" b="1" dirty="0"/>
          </a:p>
        </p:txBody>
      </p:sp>
      <p:sp>
        <p:nvSpPr>
          <p:cNvPr id="20" name="Shape 18"/>
          <p:cNvSpPr/>
          <p:nvPr/>
        </p:nvSpPr>
        <p:spPr>
          <a:xfrm>
            <a:off x="6775704" y="2240280"/>
            <a:ext cx="20116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75704" y="2240280"/>
            <a:ext cx="2011680" cy="2926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21424" y="2258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RMSE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48856" y="2578608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kg/ha — 18% better than static tables</a:t>
            </a:r>
            <a:endParaRPr lang="en-US" sz="1200" b="1" dirty="0"/>
          </a:p>
        </p:txBody>
      </p:sp>
      <p:sp>
        <p:nvSpPr>
          <p:cNvPr id="24" name="Text 22"/>
          <p:cNvSpPr/>
          <p:nvPr/>
        </p:nvSpPr>
        <p:spPr>
          <a:xfrm>
            <a:off x="274320" y="36576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Keywords: AIML · Precision Agriculture · NPK Optimization · Field Bean · Dolichos lablab · Machine Learning · Random Forest · Polynomial Regression</a:t>
            </a:r>
            <a:endParaRPr lang="en-US" sz="1200" b="1" dirty="0"/>
          </a:p>
        </p:txBody>
      </p:sp>
      <p:sp>
        <p:nvSpPr>
          <p:cNvPr id="25" name="Text 23"/>
          <p:cNvSpPr/>
          <p:nvPr/>
        </p:nvSpPr>
        <p:spPr>
          <a:xfrm>
            <a:off x="274320" y="4160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Feature Importance: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480560"/>
            <a:ext cx="3284287" cy="3200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" y="4498848"/>
            <a:ext cx="3229423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(</a:t>
            </a: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N)</a:t>
            </a:r>
            <a:r>
              <a:rPr lang="en-US" sz="1200" dirty="0"/>
              <a:t> </a:t>
            </a:r>
            <a:r>
              <a:rPr lang="en-US" sz="1200" dirty="0" smtClean="0">
                <a:solidFill>
                  <a:schemeClr val="bg1"/>
                </a:solidFill>
              </a:rPr>
              <a:t>- </a:t>
            </a: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38.21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558607" y="4480560"/>
            <a:ext cx="2409279" cy="32004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86039" y="4498848"/>
            <a:ext cx="2354415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Phosphorus (</a:t>
            </a: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P)</a:t>
            </a:r>
            <a:r>
              <a:rPr lang="en-US" sz="1200" dirty="0"/>
              <a:t> </a:t>
            </a:r>
            <a:r>
              <a:rPr lang="en-US" sz="1200" dirty="0" smtClean="0">
                <a:solidFill>
                  <a:schemeClr val="bg1"/>
                </a:solidFill>
              </a:rPr>
              <a:t>- </a:t>
            </a: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28.03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67886" y="4480560"/>
            <a:ext cx="1213665" cy="3200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95318" y="4498848"/>
            <a:ext cx="1158801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Potassium (</a:t>
            </a:r>
            <a:r>
              <a:rPr lang="en-US" sz="105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K)</a:t>
            </a:r>
            <a:r>
              <a:rPr lang="en-US" sz="1050" dirty="0"/>
              <a:t> </a:t>
            </a:r>
            <a:r>
              <a:rPr lang="en-US" sz="1050" dirty="0" smtClean="0"/>
              <a:t>-</a:t>
            </a:r>
            <a:r>
              <a:rPr lang="en-US" sz="105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14.12</a:t>
            </a: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81551" y="4480560"/>
            <a:ext cx="863834" cy="3200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08983" y="4498848"/>
            <a:ext cx="80897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900" b="1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10.05%</a:t>
            </a:r>
            <a:endParaRPr lang="en-US" sz="900" b="1" dirty="0"/>
          </a:p>
        </p:txBody>
      </p:sp>
      <p:sp>
        <p:nvSpPr>
          <p:cNvPr id="34" name="Shape 32"/>
          <p:cNvSpPr/>
          <p:nvPr/>
        </p:nvSpPr>
        <p:spPr>
          <a:xfrm>
            <a:off x="8045385" y="4480560"/>
            <a:ext cx="519160" cy="320040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64545" y="4480560"/>
            <a:ext cx="305135" cy="32004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1F"/>
          </a:solidFill>
          <a:ln w="12700">
            <a:solidFill>
              <a:srgbClr val="1A3C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Current Trends in AI/ML for Agriculture</a:t>
            </a:r>
            <a:endParaRPr lang="en-US" sz="14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12064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120640" cy="3474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338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AIML Trends in Agriculture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49377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Agriculture: Satellite &amp; drone imagery via deep learning — field-level monitoring with cm accuracy</a:t>
            </a:r>
            <a:endParaRPr lang="en-US" sz="1400" b="1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Irrigation: IoT sensors + ML algorithms for real-time water management, reducing usage by 20–30%</a:t>
            </a:r>
            <a:endParaRPr lang="en-US" sz="1400" b="1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Disease ID: CNNs achieving &gt;95% accuracy on benchmark datasets (Mohanty et al., 2016)</a:t>
            </a:r>
            <a:endParaRPr lang="en-US" sz="1400" b="1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Health Monitoring: Random Forest &amp; SVM on spectroscopic data for site-specific nutrient recommendations</a:t>
            </a:r>
            <a:endParaRPr lang="en-US" sz="1400" b="1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Prediction: Ensemble learning integrating weather, soil, and management data</a:t>
            </a:r>
            <a:endParaRPr lang="en-US" sz="1400" b="1" dirty="0"/>
          </a:p>
        </p:txBody>
      </p:sp>
      <p:sp>
        <p:nvSpPr>
          <p:cNvPr id="10" name="Shape 8"/>
          <p:cNvSpPr/>
          <p:nvPr/>
        </p:nvSpPr>
        <p:spPr>
          <a:xfrm>
            <a:off x="5669280" y="1097280"/>
            <a:ext cx="3200400" cy="1115568"/>
          </a:xfrm>
          <a:prstGeom prst="rect">
            <a:avLst/>
          </a:prstGeom>
          <a:solidFill>
            <a:srgbClr val="1A3C1F"/>
          </a:solidFill>
          <a:ln w="254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0" y="1097280"/>
            <a:ext cx="54864" cy="11155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1188720"/>
            <a:ext cx="301752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20–30%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760720" y="1766621"/>
            <a:ext cx="3063240" cy="273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food</a:t>
            </a:r>
            <a:endParaRPr lang="en-US" sz="1100" b="1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efficiency</a:t>
            </a:r>
            <a:endParaRPr lang="en-US" sz="1100" b="1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(FAO, 2022)</a:t>
            </a:r>
            <a:endParaRPr lang="en-US" sz="1100" b="1" dirty="0"/>
          </a:p>
        </p:txBody>
      </p:sp>
      <p:sp>
        <p:nvSpPr>
          <p:cNvPr id="14" name="Shape 12"/>
          <p:cNvSpPr/>
          <p:nvPr/>
        </p:nvSpPr>
        <p:spPr>
          <a:xfrm>
            <a:off x="5669280" y="2359152"/>
            <a:ext cx="3200400" cy="1115568"/>
          </a:xfrm>
          <a:prstGeom prst="rect">
            <a:avLst/>
          </a:prstGeom>
          <a:solidFill>
            <a:srgbClr val="1A3C1F"/>
          </a:solidFill>
          <a:ln w="25400">
            <a:solidFill>
              <a:srgbClr val="0079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0" y="2359152"/>
            <a:ext cx="54864" cy="111556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2450592"/>
            <a:ext cx="301752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15–25%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760720" y="2882189"/>
            <a:ext cx="30632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chemical</a:t>
            </a:r>
            <a:endParaRPr lang="en-US" sz="1100" b="1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overuse by 2030</a:t>
            </a:r>
            <a:endParaRPr lang="en-US" sz="1100" b="1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(FAO, 2022)</a:t>
            </a:r>
            <a:endParaRPr lang="en-US" sz="1100" b="1" dirty="0"/>
          </a:p>
        </p:txBody>
      </p:sp>
      <p:sp>
        <p:nvSpPr>
          <p:cNvPr id="18" name="Shape 16"/>
          <p:cNvSpPr/>
          <p:nvPr/>
        </p:nvSpPr>
        <p:spPr>
          <a:xfrm>
            <a:off x="5669280" y="3621024"/>
            <a:ext cx="3200400" cy="1115568"/>
          </a:xfrm>
          <a:prstGeom prst="rect">
            <a:avLst/>
          </a:prstGeom>
          <a:solidFill>
            <a:srgbClr val="1A3C1F"/>
          </a:solidFill>
          <a:ln w="25400">
            <a:solidFill>
              <a:srgbClr val="FFC10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0" y="3621024"/>
            <a:ext cx="54864" cy="111556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3712464"/>
            <a:ext cx="301752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C1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760720" y="4144062"/>
            <a:ext cx="3063240" cy="494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field bean area</a:t>
            </a:r>
            <a:endParaRPr lang="en-US" sz="1100" b="1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Karnataka</a:t>
            </a:r>
            <a:endParaRPr lang="en-US" sz="1100" b="1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(0.52 lakh ha)</a:t>
            </a:r>
            <a:endParaRPr lang="en-US" sz="11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1F"/>
          </a:solidFill>
          <a:ln w="12700">
            <a:solidFill>
              <a:srgbClr val="1A3C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 Bean as Study Crop &amp; AIML Rationale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Dolichos lablab</a:t>
            </a:r>
            <a:endParaRPr lang="en-US" sz="14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3749040"/>
          </a:xfrm>
          <a:prstGeom prst="rect">
            <a:avLst/>
          </a:prstGeom>
          <a:solidFill>
            <a:srgbClr val="F0F4F0"/>
          </a:solidFill>
          <a:ln w="1905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 Bean (Dolichos lablab)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1499616"/>
            <a:ext cx="3931920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Family: Fabaceae (2n = 22) | Also: Hyacinth / Avare / Indian bean</a:t>
            </a:r>
            <a:endParaRPr lang="en-US" sz="1400" b="1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Karnataka: ~80% of India's total field bean area (0.52 lakh ha)</a:t>
            </a:r>
            <a:endParaRPr lang="en-US" sz="1400" b="1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Protein: 20–25% | Amino acids, Vitamins A, C, Riboflavin, Minerals</a:t>
            </a:r>
            <a:endParaRPr lang="en-US" sz="1400" b="1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Tolerates drought, pH 5–7.5, sandy loam to clay soils</a:t>
            </a:r>
            <a:endParaRPr lang="en-US" sz="1400" b="1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Nitrogen-fixing ability improves soil fertility naturally</a:t>
            </a:r>
            <a:endParaRPr lang="en-US" sz="1400" b="1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Grown as vegetable (green pods) and pulse (dry seeds</a:t>
            </a: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206240" cy="3749040"/>
          </a:xfrm>
          <a:prstGeom prst="rect">
            <a:avLst/>
          </a:prstGeom>
          <a:solidFill>
            <a:srgbClr val="F0F4F0"/>
          </a:solidFill>
          <a:ln w="1905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97280"/>
            <a:ext cx="4206240" cy="34747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430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Rationale for AIML Integration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73168" y="1499616"/>
            <a:ext cx="4023360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RDF recommendations are generalized — static, not adaptive</a:t>
            </a:r>
            <a:endParaRPr lang="en-US" sz="1400" b="1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account for real-time variability in soil, weather, or growth stage</a:t>
            </a:r>
            <a:endParaRPr lang="en-US" sz="1400" b="1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 processes multi-parameter datasets → dynamic, site-specific recs</a:t>
            </a:r>
            <a:endParaRPr lang="en-US" sz="1400" b="1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classical field experimentation with modern computational intelligence</a:t>
            </a:r>
            <a:endParaRPr lang="en-US" sz="1400" b="1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proactive nutrient management — reduces over-fertilization risk</a:t>
            </a:r>
            <a:endParaRPr lang="en-US" sz="1400" b="1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India's pulse production goals through precision agriculture</a:t>
            </a:r>
            <a:endParaRPr lang="en-US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1F"/>
          </a:solidFill>
          <a:ln w="12700">
            <a:solidFill>
              <a:srgbClr val="1A3C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of Literature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 Applications in Agriculture (2014–2024)</a:t>
            </a:r>
            <a:endParaRPr lang="en-US" sz="14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001372"/>
              </p:ext>
            </p:extLst>
          </p:nvPr>
        </p:nvGraphicFramePr>
        <p:xfrm>
          <a:off x="274320" y="1078992"/>
          <a:ext cx="8595360" cy="374904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Pantazi et al.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Wheat Yield Prediction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 accuracy using SOM &amp; MLP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Wolfert et al.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Data in Smart Farming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12–20% yield improvement via IoT-ML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Adeyemi et al.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Soil Water Estimation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&lt; 0.03 m³/m³ with neural nets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Kamilaris &amp; Prenafeta-Boldu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in Agriculture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CNNs 20–30% better than classical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Chlingaryan et al.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for NPK Optimization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 reduction in N input via ML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 Klompenburg et al.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 Yield Prediction Review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&amp; GBM outperform ANN with limited data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Ujjainiya &amp; Choudhary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NPK on Indian Bean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RDF optimal for pod yield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Dalai et al.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Dolichos bean, Karnataka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NPK maximizes productivity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FAO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Agriculture Report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to boost efficiency 20–30% by 2030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1F"/>
          </a:solidFill>
          <a:ln w="12700">
            <a:solidFill>
              <a:srgbClr val="1A3C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Research Objectives</a:t>
            </a:r>
            <a:endParaRPr lang="en-US" sz="14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777240" cy="117043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5331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43000" y="1152144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 NPK Effects on Field Bean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463040"/>
            <a:ext cx="7635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effect of varying NPK levels (0%, 50%, 75%, 100%, 125% RDF) on growth parameters (plant height, leaf count, branch count, leaf area) and yield parameters (pod length, seeds/pod, pods/plant, green pod yield kg/ha) under Rabi 2024 field conditions at GKVK, Bengaluru.</a:t>
            </a:r>
            <a:endParaRPr lang="en-US" sz="1200" b="1" dirty="0"/>
          </a:p>
        </p:txBody>
      </p:sp>
      <p:sp>
        <p:nvSpPr>
          <p:cNvPr id="11" name="Shape 9"/>
          <p:cNvSpPr/>
          <p:nvPr/>
        </p:nvSpPr>
        <p:spPr>
          <a:xfrm>
            <a:off x="274320" y="2395728"/>
            <a:ext cx="859536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95728"/>
            <a:ext cx="777240" cy="11704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6517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43000" y="2450592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 &amp; Validate AIML Predictive 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761488"/>
            <a:ext cx="7635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 validate an AIML-based predictive model using Polynomial Regression and Random Forest algorithms to accurately predict optimal NPK dosage and green pod yield, benchmarked using RMSE and feature importance analysis.</a:t>
            </a:r>
            <a:endParaRPr lang="en-US" sz="1200" b="1" dirty="0"/>
          </a:p>
        </p:txBody>
      </p:sp>
      <p:sp>
        <p:nvSpPr>
          <p:cNvPr id="16" name="Shape 14"/>
          <p:cNvSpPr/>
          <p:nvPr/>
        </p:nvSpPr>
        <p:spPr>
          <a:xfrm>
            <a:off x="274320" y="3694176"/>
            <a:ext cx="859536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94176"/>
            <a:ext cx="777240" cy="11704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950208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143000" y="3749040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1B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AIML vs. Conventional Recommendation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4059936"/>
            <a:ext cx="7635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accuracy and utility of the AIML-based NPK recommendation system against conventional static tables (Sharma, 2004; Shrikanth et al., 2008), and propose an integrated IoT-AIML framework for real-time, site-specific precision nutrient management.</a:t>
            </a:r>
            <a:endParaRPr 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1F"/>
          </a:solidFill>
          <a:ln w="12700">
            <a:solidFill>
              <a:srgbClr val="1A3C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 &amp; Requirements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Site, Equipment &amp; Software Stack</a:t>
            </a:r>
            <a:endParaRPr lang="en-US" sz="14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Design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381613"/>
              </p:ext>
            </p:extLst>
          </p:nvPr>
        </p:nvGraphicFramePr>
        <p:xfrm>
          <a:off x="274320" y="1417320"/>
          <a:ext cx="4846320" cy="332841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4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Agronomy Field Unit, ZARS, GKVK, Bengaluru – 560065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Rabi 2024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Bean (Dolichos lablab) var. HA-4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Randomized Complete Block Design (RCBD)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T1: 0%  T2: 50%  T3: 75%  T4: 100%  T5: 125% RDF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Replications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|  Plot: 4m × 3m  |  Spacing: 45cm × 30cm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RDF (100%)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25:50:25 kg N:P₂O₅:K₂O/ha  |  Urea, SSP, MoP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349240" y="11155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Stack</a:t>
            </a:r>
            <a:endParaRPr lang="en-US" sz="1400" dirty="0"/>
          </a:p>
        </p:txBody>
      </p:sp>
      <p:sp>
        <p:nvSpPr>
          <p:cNvPr id="7" name="Shape 6"/>
          <p:cNvSpPr/>
          <p:nvPr/>
        </p:nvSpPr>
        <p:spPr>
          <a:xfrm>
            <a:off x="5349240" y="1417320"/>
            <a:ext cx="35204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79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49240" y="1417320"/>
            <a:ext cx="54864" cy="47548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1453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0" y="165506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AIML language</a:t>
            </a:r>
            <a:endParaRPr lang="en-US" sz="1100" b="1" dirty="0"/>
          </a:p>
        </p:txBody>
      </p:sp>
      <p:sp>
        <p:nvSpPr>
          <p:cNvPr id="13" name="Shape 10"/>
          <p:cNvSpPr/>
          <p:nvPr/>
        </p:nvSpPr>
        <p:spPr>
          <a:xfrm>
            <a:off x="5349240" y="1965960"/>
            <a:ext cx="35204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49240" y="1965960"/>
            <a:ext cx="54864" cy="4754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0" y="20025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1.24+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0" y="22037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computation</a:t>
            </a:r>
            <a:endParaRPr lang="en-US" sz="1100" b="1" dirty="0"/>
          </a:p>
        </p:txBody>
      </p:sp>
      <p:sp>
        <p:nvSpPr>
          <p:cNvPr id="17" name="Shape 14"/>
          <p:cNvSpPr/>
          <p:nvPr/>
        </p:nvSpPr>
        <p:spPr>
          <a:xfrm>
            <a:off x="5349240" y="2514600"/>
            <a:ext cx="35204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49240" y="2514600"/>
            <a:ext cx="54864" cy="47548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0" y="25511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2.0+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0" y="27523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100" b="1" dirty="0"/>
          </a:p>
        </p:txBody>
      </p:sp>
      <p:sp>
        <p:nvSpPr>
          <p:cNvPr id="21" name="Shape 18"/>
          <p:cNvSpPr/>
          <p:nvPr/>
        </p:nvSpPr>
        <p:spPr>
          <a:xfrm>
            <a:off x="5349240" y="3063240"/>
            <a:ext cx="35204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349240" y="3063240"/>
            <a:ext cx="54864" cy="47548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0" y="30998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1.3+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0" y="330098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 Regression &amp; RF</a:t>
            </a:r>
            <a:endParaRPr lang="en-US" sz="1100" b="1" dirty="0"/>
          </a:p>
        </p:txBody>
      </p:sp>
      <p:sp>
        <p:nvSpPr>
          <p:cNvPr id="25" name="Shape 22"/>
          <p:cNvSpPr/>
          <p:nvPr/>
        </p:nvSpPr>
        <p:spPr>
          <a:xfrm>
            <a:off x="5349240" y="3611880"/>
            <a:ext cx="35204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5D403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349240" y="3611880"/>
            <a:ext cx="54864" cy="475488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0" y="3648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3.7+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486400" y="384962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100" b="1" dirty="0"/>
          </a:p>
        </p:txBody>
      </p:sp>
      <p:sp>
        <p:nvSpPr>
          <p:cNvPr id="29" name="Shape 26"/>
          <p:cNvSpPr/>
          <p:nvPr/>
        </p:nvSpPr>
        <p:spPr>
          <a:xfrm>
            <a:off x="5349240" y="4160520"/>
            <a:ext cx="35204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3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349240" y="4160520"/>
            <a:ext cx="54864" cy="475488"/>
          </a:xfrm>
          <a:prstGeom prst="rect">
            <a:avLst/>
          </a:prstGeom>
          <a:solidFill>
            <a:srgbClr val="2E6B35"/>
          </a:solidFill>
          <a:ln w="12700">
            <a:solidFill>
              <a:srgbClr val="2E6B3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0" y="41970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7.0+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486400" y="439826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dev &amp; reports</a:t>
            </a:r>
            <a:endParaRPr lang="en-US" sz="11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69848"/>
          </a:xfrm>
          <a:prstGeom prst="rect">
            <a:avLst/>
          </a:prstGeom>
          <a:solidFill>
            <a:srgbClr val="1A3C1F"/>
          </a:solidFill>
          <a:ln w="12700">
            <a:solidFill>
              <a:srgbClr val="1A3C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 Pipeline for NPK Optimization — Block Diagram</a:t>
            </a:r>
            <a:endParaRPr lang="en-US" sz="14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1965960" cy="2402779"/>
          </a:xfrm>
          <a:prstGeom prst="rect">
            <a:avLst/>
          </a:prstGeom>
          <a:solidFill>
            <a:srgbClr val="FFFFFF"/>
          </a:solidFill>
          <a:ln w="25400">
            <a:solidFill>
              <a:srgbClr val="4CAF5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1965960" cy="4114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2070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2161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Acquisition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664208"/>
            <a:ext cx="180136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sensor readings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Agronomist observations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datasets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lab analysis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12848" y="2651760"/>
            <a:ext cx="228600" cy="54864"/>
          </a:xfrm>
          <a:prstGeom prst="rect">
            <a:avLst/>
          </a:prstGeom>
          <a:solidFill>
            <a:srgbClr val="2E6B35"/>
          </a:solidFill>
          <a:ln w="12700">
            <a:solidFill>
              <a:srgbClr val="2E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25420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41448" y="1188720"/>
            <a:ext cx="1965960" cy="2402779"/>
          </a:xfrm>
          <a:prstGeom prst="rect">
            <a:avLst/>
          </a:prstGeom>
          <a:solidFill>
            <a:srgbClr val="FFFFFF"/>
          </a:solidFill>
          <a:ln w="25400">
            <a:solidFill>
              <a:srgbClr val="00796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41448" y="1188720"/>
            <a:ext cx="1965960" cy="41148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41448" y="12070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98648" y="12161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Pre-processing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32888" y="1664208"/>
            <a:ext cx="180136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RCBD structuring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25696" y="2651760"/>
            <a:ext cx="228600" cy="54864"/>
          </a:xfrm>
          <a:prstGeom prst="rect">
            <a:avLst/>
          </a:prstGeom>
          <a:solidFill>
            <a:srgbClr val="2E6B35"/>
          </a:solidFill>
          <a:ln w="12700">
            <a:solidFill>
              <a:srgbClr val="2E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25420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54296" y="1188719"/>
            <a:ext cx="1965960" cy="2402779"/>
          </a:xfrm>
          <a:prstGeom prst="rect">
            <a:avLst/>
          </a:prstGeom>
          <a:solidFill>
            <a:srgbClr val="FFFFFF"/>
          </a:solidFill>
          <a:ln w="25400">
            <a:solidFill>
              <a:srgbClr val="6A1B9A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54296" y="1188720"/>
            <a:ext cx="196596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12070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11496" y="12161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Intelligence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45736" y="1664208"/>
            <a:ext cx="180136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evaluation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38544" y="2651760"/>
            <a:ext cx="228600" cy="54864"/>
          </a:xfrm>
          <a:prstGeom prst="rect">
            <a:avLst/>
          </a:prstGeom>
          <a:solidFill>
            <a:srgbClr val="2E6B35"/>
          </a:solidFill>
          <a:ln w="12700">
            <a:solidFill>
              <a:srgbClr val="2E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93408" y="25420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67144" y="1188720"/>
            <a:ext cx="1965960" cy="2402779"/>
          </a:xfrm>
          <a:prstGeom prst="rect">
            <a:avLst/>
          </a:prstGeom>
          <a:solidFill>
            <a:srgbClr val="FFFFFF"/>
          </a:solidFill>
          <a:ln w="25400">
            <a:solidFill>
              <a:srgbClr val="FFC107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67144" y="1188720"/>
            <a:ext cx="1965960" cy="41148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67144" y="12070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24344" y="12161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Delivery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958584" y="1664208"/>
            <a:ext cx="180136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recommendation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prediction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charts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report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74320" y="4384713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/ Field Data → Pre-process → Train ML Models → Generate Precision NPK Recommendations</a:t>
            </a:r>
            <a:endParaRPr lang="en-US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1F"/>
          </a:solidFill>
          <a:ln w="12700">
            <a:solidFill>
              <a:srgbClr val="1A3C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NPK Treatment 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Levels of Recommended Dose of Fertilizer (RDF)</a:t>
            </a:r>
            <a:endParaRPr lang="en-US" sz="12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01168" y="1097280"/>
            <a:ext cx="1627632" cy="2121408"/>
          </a:xfrm>
          <a:prstGeom prst="rect">
            <a:avLst/>
          </a:prstGeom>
          <a:solidFill>
            <a:srgbClr val="FFFFFF"/>
          </a:solidFill>
          <a:ln w="19050">
            <a:solidFill>
              <a:srgbClr val="9E9E9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97280"/>
            <a:ext cx="1627632" cy="41148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11556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" y="155448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 RDF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" y="1920240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P₂O₅ : K₂O</a:t>
            </a:r>
            <a:endParaRPr lang="en-US" sz="1400" b="1" dirty="0"/>
          </a:p>
        </p:txBody>
      </p:sp>
      <p:sp>
        <p:nvSpPr>
          <p:cNvPr id="11" name="Text 9"/>
          <p:cNvSpPr/>
          <p:nvPr/>
        </p:nvSpPr>
        <p:spPr>
          <a:xfrm>
            <a:off x="201168" y="214884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: 0 : 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" y="2487168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kg/ha</a:t>
            </a:r>
            <a:endParaRPr lang="en-US" sz="1200" b="1" dirty="0"/>
          </a:p>
        </p:txBody>
      </p:sp>
      <p:sp>
        <p:nvSpPr>
          <p:cNvPr id="13" name="Text 11"/>
          <p:cNvSpPr/>
          <p:nvPr/>
        </p:nvSpPr>
        <p:spPr>
          <a:xfrm>
            <a:off x="201168" y="278892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b="1" dirty="0"/>
          </a:p>
        </p:txBody>
      </p:sp>
      <p:sp>
        <p:nvSpPr>
          <p:cNvPr id="14" name="Shape 12"/>
          <p:cNvSpPr/>
          <p:nvPr/>
        </p:nvSpPr>
        <p:spPr>
          <a:xfrm>
            <a:off x="1975104" y="1097280"/>
            <a:ext cx="1627632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96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75104" y="1097280"/>
            <a:ext cx="1627632" cy="41148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75104" y="111556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75104" y="155448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 RDF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75104" y="1920240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P₂O₅ : K₂O</a:t>
            </a:r>
            <a:endParaRPr lang="en-US" sz="1400" b="1" dirty="0"/>
          </a:p>
        </p:txBody>
      </p:sp>
      <p:sp>
        <p:nvSpPr>
          <p:cNvPr id="19" name="Text 17"/>
          <p:cNvSpPr/>
          <p:nvPr/>
        </p:nvSpPr>
        <p:spPr>
          <a:xfrm>
            <a:off x="1975104" y="214884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 : 25 : 12.5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75104" y="2487168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kg/ha</a:t>
            </a:r>
            <a:endParaRPr lang="en-US" sz="900" b="1" dirty="0"/>
          </a:p>
        </p:txBody>
      </p:sp>
      <p:sp>
        <p:nvSpPr>
          <p:cNvPr id="21" name="Text 19"/>
          <p:cNvSpPr/>
          <p:nvPr/>
        </p:nvSpPr>
        <p:spPr>
          <a:xfrm>
            <a:off x="1975104" y="278892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Dose</a:t>
            </a:r>
            <a:endParaRPr lang="en-US" sz="1200" b="1" dirty="0"/>
          </a:p>
        </p:txBody>
      </p:sp>
      <p:sp>
        <p:nvSpPr>
          <p:cNvPr id="22" name="Shape 20"/>
          <p:cNvSpPr/>
          <p:nvPr/>
        </p:nvSpPr>
        <p:spPr>
          <a:xfrm>
            <a:off x="3749040" y="1097280"/>
            <a:ext cx="1627632" cy="3090672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49040" y="1097280"/>
            <a:ext cx="1627632" cy="4114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111556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749040" y="155448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 RDF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49040" y="1920240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P₂O₅ : K₂O</a:t>
            </a:r>
            <a:endParaRPr lang="en-US" sz="1200" b="1" dirty="0"/>
          </a:p>
        </p:txBody>
      </p:sp>
      <p:sp>
        <p:nvSpPr>
          <p:cNvPr id="27" name="Text 25"/>
          <p:cNvSpPr/>
          <p:nvPr/>
        </p:nvSpPr>
        <p:spPr>
          <a:xfrm>
            <a:off x="3749040" y="214884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18.75 : 37.5 : 18.75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49040" y="2487168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kg/ha</a:t>
            </a:r>
            <a:endParaRPr lang="en-US" sz="900" b="1" dirty="0"/>
          </a:p>
        </p:txBody>
      </p:sp>
      <p:sp>
        <p:nvSpPr>
          <p:cNvPr id="29" name="Text 27"/>
          <p:cNvSpPr/>
          <p:nvPr/>
        </p:nvSpPr>
        <p:spPr>
          <a:xfrm>
            <a:off x="3749040" y="278892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Three-Quarter</a:t>
            </a:r>
            <a:endParaRPr lang="en-US" sz="1200" b="1" dirty="0"/>
          </a:p>
        </p:txBody>
      </p:sp>
      <p:sp>
        <p:nvSpPr>
          <p:cNvPr id="30" name="Shape 28"/>
          <p:cNvSpPr/>
          <p:nvPr/>
        </p:nvSpPr>
        <p:spPr>
          <a:xfrm>
            <a:off x="5522976" y="1097280"/>
            <a:ext cx="1627632" cy="3520440"/>
          </a:xfrm>
          <a:prstGeom prst="rect">
            <a:avLst/>
          </a:prstGeom>
          <a:solidFill>
            <a:srgbClr val="1A3C1F"/>
          </a:solidFill>
          <a:ln w="38100">
            <a:solidFill>
              <a:srgbClr val="FFC10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22976" y="1097280"/>
            <a:ext cx="1627632" cy="41148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22976" y="111556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22976" y="155448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1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RDF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22976" y="1920240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P₂O₅ : K₂O</a:t>
            </a:r>
            <a:endParaRPr lang="en-US" sz="1200" b="1" dirty="0"/>
          </a:p>
        </p:txBody>
      </p:sp>
      <p:sp>
        <p:nvSpPr>
          <p:cNvPr id="35" name="Text 33"/>
          <p:cNvSpPr/>
          <p:nvPr/>
        </p:nvSpPr>
        <p:spPr>
          <a:xfrm>
            <a:off x="5522976" y="214884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: 50 : 25</a:t>
            </a:r>
            <a:endParaRPr lang="en-US" sz="1400" b="1" dirty="0"/>
          </a:p>
        </p:txBody>
      </p:sp>
      <p:sp>
        <p:nvSpPr>
          <p:cNvPr id="36" name="Text 34"/>
          <p:cNvSpPr/>
          <p:nvPr/>
        </p:nvSpPr>
        <p:spPr>
          <a:xfrm>
            <a:off x="5522976" y="2487168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kg/ha</a:t>
            </a:r>
            <a:endParaRPr lang="en-US" sz="1200" b="1" dirty="0"/>
          </a:p>
        </p:txBody>
      </p:sp>
      <p:sp>
        <p:nvSpPr>
          <p:cNvPr id="37" name="Text 35"/>
          <p:cNvSpPr/>
          <p:nvPr/>
        </p:nvSpPr>
        <p:spPr>
          <a:xfrm>
            <a:off x="5522976" y="278892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Optimal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522976" y="324612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green pod yield: 3500 kg/ha</a:t>
            </a:r>
            <a:endParaRPr lang="en-US" sz="1200" b="1" dirty="0"/>
          </a:p>
        </p:txBody>
      </p:sp>
      <p:sp>
        <p:nvSpPr>
          <p:cNvPr id="39" name="Shape 37"/>
          <p:cNvSpPr/>
          <p:nvPr/>
        </p:nvSpPr>
        <p:spPr>
          <a:xfrm>
            <a:off x="7296912" y="1097280"/>
            <a:ext cx="1627632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5D403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296912" y="1097280"/>
            <a:ext cx="1627632" cy="411480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96912" y="111556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296912" y="155448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125% RDF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296912" y="1920240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P₂O₅ : K₂O</a:t>
            </a:r>
            <a:endParaRPr lang="en-US" sz="1200" b="1" dirty="0"/>
          </a:p>
        </p:txBody>
      </p:sp>
      <p:sp>
        <p:nvSpPr>
          <p:cNvPr id="44" name="Text 42"/>
          <p:cNvSpPr/>
          <p:nvPr/>
        </p:nvSpPr>
        <p:spPr>
          <a:xfrm>
            <a:off x="7296912" y="214884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31.25 : 62.5 : 31.25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296912" y="2487168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kg/ha</a:t>
            </a:r>
            <a:endParaRPr lang="en-US" sz="1200" b="1" dirty="0"/>
          </a:p>
        </p:txBody>
      </p:sp>
      <p:sp>
        <p:nvSpPr>
          <p:cNvPr id="46" name="Text 44"/>
          <p:cNvSpPr/>
          <p:nvPr/>
        </p:nvSpPr>
        <p:spPr>
          <a:xfrm>
            <a:off x="7296912" y="278892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Over-dose</a:t>
            </a:r>
            <a:endParaRPr lang="en-US" sz="1100" b="1" dirty="0"/>
          </a:p>
        </p:txBody>
      </p:sp>
      <p:sp>
        <p:nvSpPr>
          <p:cNvPr id="47" name="Text 45"/>
          <p:cNvSpPr/>
          <p:nvPr/>
        </p:nvSpPr>
        <p:spPr>
          <a:xfrm>
            <a:off x="-694944" y="4726787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Fertilizers: Urea (N)  •  Single Super Phosphate (P)  •  Muriate of Potash (K)  |  4 Replications  |  Plot: 4m × 3m</a:t>
            </a:r>
            <a:endParaRPr 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1F"/>
          </a:solidFill>
          <a:ln w="12700">
            <a:solidFill>
              <a:srgbClr val="1A3C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Effect on Growth Parameters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Height, Leaf Count, Branch Count, Leaf Area at 30 &amp; 60 DAS</a:t>
            </a:r>
            <a:endParaRPr lang="en-US" sz="14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033443752"/>
              </p:ext>
            </p:extLst>
          </p:nvPr>
        </p:nvGraphicFramePr>
        <p:xfrm>
          <a:off x="274320" y="109728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1097280"/>
            <a:ext cx="306324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06440" y="1097280"/>
            <a:ext cx="54864" cy="8046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11430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 Height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1408176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142.7 cm at harvest (T4)</a:t>
            </a:r>
            <a:endParaRPr lang="en-US" sz="1200" b="1" dirty="0"/>
          </a:p>
        </p:txBody>
      </p:sp>
      <p:sp>
        <p:nvSpPr>
          <p:cNvPr id="11" name="Shape 8"/>
          <p:cNvSpPr/>
          <p:nvPr/>
        </p:nvSpPr>
        <p:spPr>
          <a:xfrm>
            <a:off x="5806440" y="2029968"/>
            <a:ext cx="306324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0079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06440" y="2029968"/>
            <a:ext cx="54864" cy="80467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20756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Leaf Count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0" y="234086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at T4 &amp; T5 — 125% showed slight decline at harvest</a:t>
            </a:r>
            <a:endParaRPr lang="en-US" sz="1200" b="1" dirty="0"/>
          </a:p>
        </p:txBody>
      </p:sp>
      <p:sp>
        <p:nvSpPr>
          <p:cNvPr id="15" name="Shape 12"/>
          <p:cNvSpPr/>
          <p:nvPr/>
        </p:nvSpPr>
        <p:spPr>
          <a:xfrm>
            <a:off x="5806440" y="2962656"/>
            <a:ext cx="306324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06440" y="2962656"/>
            <a:ext cx="54864" cy="80467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30083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1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 Count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0" y="327355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recorded highest productive branches/plant</a:t>
            </a:r>
            <a:endParaRPr lang="en-US" sz="1200" b="1" dirty="0"/>
          </a:p>
        </p:txBody>
      </p:sp>
      <p:sp>
        <p:nvSpPr>
          <p:cNvPr id="19" name="Shape 16"/>
          <p:cNvSpPr/>
          <p:nvPr/>
        </p:nvSpPr>
        <p:spPr>
          <a:xfrm>
            <a:off x="5806440" y="3895344"/>
            <a:ext cx="306324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06440" y="3895344"/>
            <a:ext cx="54864" cy="8046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0" y="39410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Leaf Area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43600" y="420624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Proportionally increased with NPK up to 100% RDF</a:t>
            </a:r>
            <a:endParaRPr 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1F"/>
          </a:solidFill>
          <a:ln w="12700">
            <a:solidFill>
              <a:srgbClr val="1A3C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Effect on Yield Parameters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Length, Seeds/Pod, Pods/Plant, Green Pod Yield (kg/ha)</a:t>
            </a:r>
            <a:endParaRPr lang="en-US" sz="14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14898486"/>
              </p:ext>
            </p:extLst>
          </p:nvPr>
        </p:nvGraphicFramePr>
        <p:xfrm>
          <a:off x="274320" y="1097280"/>
          <a:ext cx="50292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097280"/>
            <a:ext cx="3200400" cy="1078992"/>
          </a:xfrm>
          <a:prstGeom prst="rect">
            <a:avLst/>
          </a:prstGeom>
          <a:solidFill>
            <a:srgbClr val="1A3C1F"/>
          </a:solidFill>
          <a:ln w="25400">
            <a:solidFill>
              <a:srgbClr val="FFC10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097280"/>
            <a:ext cx="54864" cy="107899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0" y="1188720"/>
            <a:ext cx="301752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C1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3500 kg/ha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5669280" y="1744675"/>
            <a:ext cx="30632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yield</a:t>
            </a:r>
            <a:endParaRPr lang="en-US" sz="12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(100% RDF)</a:t>
            </a:r>
            <a:endParaRPr lang="en-US" sz="12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5577840" y="2286000"/>
            <a:ext cx="3200400" cy="1078992"/>
          </a:xfrm>
          <a:prstGeom prst="rect">
            <a:avLst/>
          </a:prstGeom>
          <a:solidFill>
            <a:srgbClr val="1A3C1F"/>
          </a:solidFill>
          <a:ln w="254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2286000"/>
            <a:ext cx="54864" cy="10789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15000" y="2377440"/>
            <a:ext cx="301752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+86.7%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5669280" y="2933395"/>
            <a:ext cx="30632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increase over</a:t>
            </a:r>
            <a:endParaRPr lang="en-US" sz="12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(T1)</a:t>
            </a:r>
            <a:endParaRPr lang="en-US" sz="12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577840" y="3474720"/>
            <a:ext cx="3200400" cy="1078992"/>
          </a:xfrm>
          <a:prstGeom prst="rect">
            <a:avLst/>
          </a:prstGeom>
          <a:solidFill>
            <a:srgbClr val="1A3C1F"/>
          </a:solidFill>
          <a:ln w="25400">
            <a:solidFill>
              <a:srgbClr val="5D40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3474720"/>
            <a:ext cx="54864" cy="1078992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0" y="3566160"/>
            <a:ext cx="301752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2437 kg/ha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5669280" y="4122115"/>
            <a:ext cx="3063240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(125% RDF) —</a:t>
            </a:r>
            <a:endParaRPr lang="en-US" sz="12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due to disease</a:t>
            </a:r>
            <a:endParaRPr lang="en-US" sz="12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320040" y="48463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Over-fertilization (125% RDF) triggered anthracnose &amp; pod borer, reducing yield below T4 — precision dosing is critical.</a:t>
            </a:r>
            <a:endParaRPr 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1F"/>
          </a:solidFill>
          <a:ln w="12700">
            <a:solidFill>
              <a:srgbClr val="1A3C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91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Code: Current Experiment Visualization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502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6.3 — NPK vs Yield &amp; Plant Height (Rabi 2024, </a:t>
            </a:r>
            <a:r>
              <a:rPr lang="en-US" sz="12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GKVK Bengaluru</a:t>
            </a:r>
            <a:r>
              <a:rPr lang="en-US" sz="1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106424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106424"/>
            <a:ext cx="146304" cy="14630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1106424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0424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experiment_visualization.py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353312"/>
            <a:ext cx="8595360" cy="361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353312"/>
            <a:ext cx="384048" cy="36118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389888"/>
            <a:ext cx="384048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9808" y="1389888"/>
            <a:ext cx="8028432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Current Experiment: NPK vs Yield &amp; Plant Height ──
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matplotlib.pyplot 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plt
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
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treatments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'T1\n(0%RDF)'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'T2\n(50%RDF)'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'T3\n(75%RDF)'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'T4\n(100%RDF)★'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'T5\n(125%RDF)'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yield_data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1875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2137.5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2400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3500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2437.5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</a:t>
            </a: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kg/ha
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height_data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65.9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74.2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76.5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81.9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82.2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</a:t>
            </a: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cm (harvest)
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ax1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plt.subplots(figsize=(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
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'#94a3b8'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'#60a5fa'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'#34d399'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'#16a34a'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'#fb923c'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ax1.bar(range(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yield_data, color=colors, width=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ax2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ax1.twinx()
ax2.plot(range(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height_data, 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'o-'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color=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'#7c3aed'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lw=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plt.title(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'Effect of NPK Levels — Rabi 2024, GKVK Bengaluru'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plt.tight_layout(); plt.savefig(</a:t>
            </a: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'experiment_chart.png'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dpi=</a:t>
            </a: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plt.show()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5001768"/>
            <a:ext cx="8595360" cy="2743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4583539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Output: Dual-axis chart — Bar (Green Pod Yield kg/ha) + Line (Plant Height cm) across 5 NPK treatments</a:t>
            </a:r>
            <a:endParaRPr lang="en-US" sz="11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1F"/>
          </a:solidFill>
          <a:ln w="12700">
            <a:solidFill>
              <a:srgbClr val="1A3C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AIML Model: Polynomial Regression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Prediction Model — NPK vs Green Pod Yield</a:t>
            </a:r>
            <a:endParaRPr lang="en-US" sz="12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4083730853"/>
              </p:ext>
            </p:extLst>
          </p:nvPr>
        </p:nvGraphicFramePr>
        <p:xfrm>
          <a:off x="274320" y="1097280"/>
          <a:ext cx="5029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32120" y="1097280"/>
            <a:ext cx="333756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532120" y="1097280"/>
            <a:ext cx="54864" cy="5212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50992" y="11247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50992" y="1344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 (Degree = 2)</a:t>
            </a:r>
            <a:endParaRPr lang="en-US" sz="1200" b="1" dirty="0"/>
          </a:p>
        </p:txBody>
      </p:sp>
      <p:sp>
        <p:nvSpPr>
          <p:cNvPr id="11" name="Shape 8"/>
          <p:cNvSpPr/>
          <p:nvPr/>
        </p:nvSpPr>
        <p:spPr>
          <a:xfrm>
            <a:off x="5532120" y="1691640"/>
            <a:ext cx="333756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0079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32120" y="1691640"/>
            <a:ext cx="54864" cy="52120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50992" y="17190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50992" y="19385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(PolynomialFeatures + LinearRegression)</a:t>
            </a:r>
            <a:endParaRPr lang="en-US" sz="1100" b="1" dirty="0"/>
          </a:p>
        </p:txBody>
      </p:sp>
      <p:sp>
        <p:nvSpPr>
          <p:cNvPr id="15" name="Shape 12"/>
          <p:cNvSpPr/>
          <p:nvPr/>
        </p:nvSpPr>
        <p:spPr>
          <a:xfrm>
            <a:off x="5532120" y="2286000"/>
            <a:ext cx="333756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32120" y="2286000"/>
            <a:ext cx="54864" cy="5212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50992" y="23134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650992" y="25328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112.35 kg/ha</a:t>
            </a:r>
            <a:endParaRPr lang="en-US" sz="1200" b="1" dirty="0"/>
          </a:p>
        </p:txBody>
      </p:sp>
      <p:sp>
        <p:nvSpPr>
          <p:cNvPr id="19" name="Shape 16"/>
          <p:cNvSpPr/>
          <p:nvPr/>
        </p:nvSpPr>
        <p:spPr>
          <a:xfrm>
            <a:off x="5532120" y="2880360"/>
            <a:ext cx="333756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32120" y="2880360"/>
            <a:ext cx="54864" cy="52120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50992" y="29077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RDF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650992" y="31272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 (predicted) vs 100% (experimental)</a:t>
            </a:r>
            <a:endParaRPr lang="en-US" sz="1200" b="1" dirty="0"/>
          </a:p>
        </p:txBody>
      </p:sp>
      <p:sp>
        <p:nvSpPr>
          <p:cNvPr id="23" name="Shape 20"/>
          <p:cNvSpPr/>
          <p:nvPr/>
        </p:nvSpPr>
        <p:spPr>
          <a:xfrm>
            <a:off x="5532120" y="3474720"/>
            <a:ext cx="333756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32120" y="3474720"/>
            <a:ext cx="54864" cy="5212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50992" y="35021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Predicted Yield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650992" y="37216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3512 kg/ha (vs experimental 3500 kg/ha)</a:t>
            </a:r>
            <a:endParaRPr lang="en-US" sz="1200" b="1" dirty="0"/>
          </a:p>
        </p:txBody>
      </p:sp>
      <p:sp>
        <p:nvSpPr>
          <p:cNvPr id="27" name="Shape 24"/>
          <p:cNvSpPr/>
          <p:nvPr/>
        </p:nvSpPr>
        <p:spPr>
          <a:xfrm>
            <a:off x="5532120" y="4069080"/>
            <a:ext cx="333756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5D403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32120" y="4069080"/>
            <a:ext cx="54864" cy="521208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50992" y="40965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vs Static Tables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650992" y="43159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~18% more precise in identifying optimal dose</a:t>
            </a:r>
            <a:endParaRPr 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1F"/>
          </a:solidFill>
          <a:ln w="12700">
            <a:solidFill>
              <a:srgbClr val="1A3C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AIML Model: Random Forest Feature Importance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 of Green Pod Yield in Field Bean</a:t>
            </a:r>
            <a:endParaRPr lang="en-US" sz="13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020990051"/>
              </p:ext>
            </p:extLst>
          </p:nvPr>
        </p:nvGraphicFramePr>
        <p:xfrm>
          <a:off x="274320" y="1097280"/>
          <a:ext cx="54864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143000"/>
            <a:ext cx="475488" cy="475488"/>
          </a:xfrm>
          <a:prstGeom prst="ellipse">
            <a:avLst/>
          </a:prstGeom>
          <a:solidFill>
            <a:srgbClr val="1A3C1F"/>
          </a:solidFill>
          <a:ln w="12700">
            <a:solidFill>
              <a:srgbClr val="1A3C1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116128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37960" y="11338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38.21%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37960" y="1371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is the primary driver of yield </a:t>
            </a:r>
            <a:r>
              <a:rPr lang="en-US" sz="1200" dirty="0" smtClean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 smtClean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</a:t>
            </a: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management is crucial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0" y="2057400"/>
            <a:ext cx="475488" cy="475488"/>
          </a:xfrm>
          <a:prstGeom prst="ellipse">
            <a:avLst/>
          </a:prstGeom>
          <a:solidFill>
            <a:srgbClr val="2E6B35"/>
          </a:solidFill>
          <a:ln w="12700">
            <a:solidFill>
              <a:srgbClr val="2E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207568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37960" y="20482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28.03%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37960" y="2286000"/>
            <a:ext cx="249042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Phosphorus strongly influences pod set and seed formation in Field Bean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0" y="2971800"/>
            <a:ext cx="475488" cy="47548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299008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37960" y="29626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14.12%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37960" y="3200400"/>
            <a:ext cx="24168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Potassium supports disease resistance and quality of green pods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943600" y="3886200"/>
            <a:ext cx="475488" cy="475488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390448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T°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37960" y="38770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10.05%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537960" y="4114800"/>
            <a:ext cx="24168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affects photosynthesis rate and flowering timing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1F"/>
          </a:solidFill>
          <a:ln w="12700">
            <a:solidFill>
              <a:srgbClr val="1A3C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91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Code: AIML Model — Polynomial Regression + Random Forest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1168" y="502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6.5 — Yield Prediction &amp; Feature Importance Analysis (Scikit-learn)</a:t>
            </a:r>
            <a:endParaRPr lang="en-US" sz="12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106424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106424"/>
            <a:ext cx="146304" cy="14630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1106424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424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aiml_model.py</a:t>
            </a:r>
            <a:endParaRPr lang="en-US" sz="1000" b="1" dirty="0"/>
          </a:p>
        </p:txBody>
      </p:sp>
      <p:sp>
        <p:nvSpPr>
          <p:cNvPr id="11" name="Shape 9"/>
          <p:cNvSpPr/>
          <p:nvPr/>
        </p:nvSpPr>
        <p:spPr>
          <a:xfrm>
            <a:off x="274320" y="1353312"/>
            <a:ext cx="8595360" cy="37901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353312"/>
            <a:ext cx="384048" cy="36118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389888"/>
            <a:ext cx="384048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50" dirty="0"/>
          </a:p>
          <a:p>
            <a:pPr marL="0" indent="0" algn="r">
              <a:buNone/>
            </a:pPr>
            <a:r>
              <a:rPr lang="en-US" sz="950" dirty="0">
                <a:solidFill>
                  <a:srgbClr val="4951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9808" y="1389888"/>
            <a:ext cx="8028432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AIML: Polynomial Regression + Random Forest Feature Importance ──
</a:t>
            </a: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</a:t>
            </a: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np;  </a:t>
            </a: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matplotlib.pyplot </a:t>
            </a: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plt
</a:t>
            </a: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sklearn.preprocessing </a:t>
            </a: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PolynomialFeatures
</a:t>
            </a: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sklearn.linear_model </a:t>
            </a: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LinearRegression
</a:t>
            </a: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sklearn.metrics </a:t>
            </a: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 smtClean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mean_squared_error</a:t>
            </a: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Experimental data
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np.array([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0, 50, 75, 100, 125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]).reshape(-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np.array([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1875, 2137.5, 2400, 3500, 2437.5</a:t>
            </a:r>
            <a:r>
              <a:rPr lang="en-US" sz="1000" dirty="0" smtClean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Polynomial Regression (degree = 2)
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PolynomialFeatures(degree=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X_poly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poly.fit_transform(rdf)
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LinearRegression().fit(X_poly, yields)
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mean_squared_error(yields, model.predict(X_poly), squared=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'Polynomial Regression RMSE: {rmse:.2f} kg/ha</a:t>
            </a:r>
            <a:r>
              <a:rPr lang="en-US" sz="1000" dirty="0" smtClean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000" dirty="0" smtClean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 smtClean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Forest Feature </a:t>
            </a:r>
            <a:r>
              <a:rPr lang="en-US" sz="1000" dirty="0" smtClean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Importance</a:t>
            </a: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 (kg/ha)','P (kg/ha)','K (kg/ha)','Temp (°C)','Rainfall (mm)','Soil pH'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importance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38.21, 28.03, 14.12, 10.05, 6.04, 3.55</a:t>
            </a:r>
            <a:r>
              <a:rPr lang="en-US" sz="1000" dirty="0" smtClean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Plot results
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(ax1, ax2)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plt.subplots(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figsize=(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
ax2.barh(features[::-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importance[::-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color=</a:t>
            </a: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'#2563eb'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alpha=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plt.tight_layout(); plt.savefig(</a:t>
            </a: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'aiml_results.png'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dpi=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plt.show()
</a:t>
            </a:r>
            <a:r>
              <a:rPr lang="en-US" sz="100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Output: Polynomial Regression RMSE: 112.35 kg/ha | Optimal RDF: 97.5% | Max Yield: 3512 kg/ha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812280" y="1466403"/>
            <a:ext cx="2011680" cy="274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03136" y="1480119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112.35 kg/ha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21424" y="2472177"/>
            <a:ext cx="2011680" cy="2743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84848" y="2499042"/>
            <a:ext cx="2011680" cy="247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Optimal RDF: 97.5%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21424" y="3351385"/>
            <a:ext cx="201168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4848" y="3395046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Predicted Yield: 3512 kg/ha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12280" y="4383861"/>
            <a:ext cx="2011680" cy="2743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4397577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Importance: 38.21%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1F"/>
          </a:solidFill>
          <a:ln w="12700">
            <a:solidFill>
              <a:srgbClr val="1A3C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Conclusion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Field Experimentation &amp; AIML Analysis</a:t>
            </a:r>
            <a:endParaRPr lang="en-US" sz="13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94360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188720"/>
            <a:ext cx="7818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RDF (25:50:25 kg NPK/ha) is the agronomically &amp; economically optimal dose for Field Bean under Rabi 2024 at GKVK, Bengaluru.</a:t>
            </a:r>
            <a:endParaRPr lang="en-US" sz="1200" b="1" dirty="0"/>
          </a:p>
        </p:txBody>
      </p:sp>
      <p:sp>
        <p:nvSpPr>
          <p:cNvPr id="10" name="Shape 8"/>
          <p:cNvSpPr/>
          <p:nvPr/>
        </p:nvSpPr>
        <p:spPr>
          <a:xfrm>
            <a:off x="274320" y="1847088"/>
            <a:ext cx="85953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796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47088"/>
            <a:ext cx="594360" cy="65836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3852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938528"/>
            <a:ext cx="7818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 accurately captures the non-linear yield-NPK response curve (RMSE = 112.35 kg/ha; optimal predicted at 97.5% RDF).</a:t>
            </a:r>
            <a:endParaRPr lang="en-US" sz="1200" b="1" dirty="0"/>
          </a:p>
        </p:txBody>
      </p:sp>
      <p:sp>
        <p:nvSpPr>
          <p:cNvPr id="14" name="Shape 12"/>
          <p:cNvSpPr/>
          <p:nvPr/>
        </p:nvSpPr>
        <p:spPr>
          <a:xfrm>
            <a:off x="274320" y="2596896"/>
            <a:ext cx="85953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596896"/>
            <a:ext cx="594360" cy="65836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8833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688336"/>
            <a:ext cx="7818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is the most critical yield-determining nutrient (38.21% importance), followed by Phosphorus (28.03%) and Potassium (14.12%).</a:t>
            </a:r>
            <a:endParaRPr lang="en-US" sz="1200" b="1" dirty="0"/>
          </a:p>
        </p:txBody>
      </p:sp>
      <p:sp>
        <p:nvSpPr>
          <p:cNvPr id="18" name="Shape 16"/>
          <p:cNvSpPr/>
          <p:nvPr/>
        </p:nvSpPr>
        <p:spPr>
          <a:xfrm>
            <a:off x="274320" y="3346704"/>
            <a:ext cx="85953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346704"/>
            <a:ext cx="594360" cy="6583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43814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438144"/>
            <a:ext cx="7818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 integration with classical agronomy provides ~18% greater precision in dose recommendation over conventional static methods.</a:t>
            </a:r>
            <a:endParaRPr lang="en-US" sz="1200" b="1" dirty="0"/>
          </a:p>
        </p:txBody>
      </p:sp>
      <p:sp>
        <p:nvSpPr>
          <p:cNvPr id="22" name="Shape 20"/>
          <p:cNvSpPr/>
          <p:nvPr/>
        </p:nvSpPr>
        <p:spPr>
          <a:xfrm>
            <a:off x="274320" y="4096512"/>
            <a:ext cx="85953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5D403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096512"/>
            <a:ext cx="594360" cy="658368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18795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4187952"/>
            <a:ext cx="7818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Over-fertilization (125% RDF) increases disease and pest pressure, reducing yield — an insight AIML models can proactively flag.</a:t>
            </a:r>
            <a:endParaRPr 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1F"/>
          </a:solidFill>
          <a:ln w="12700">
            <a:solidFill>
              <a:srgbClr val="1A3C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Directions &amp; IoT Integration for Smart Precision Farming</a:t>
            </a:r>
            <a:endParaRPr lang="en-US" sz="13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27432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97280"/>
            <a:ext cx="2743200" cy="32918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113385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 for Disease Detection</a:t>
            </a:r>
            <a:endParaRPr lang="en-US" sz="1050" b="1" dirty="0"/>
          </a:p>
        </p:txBody>
      </p:sp>
      <p:sp>
        <p:nvSpPr>
          <p:cNvPr id="9" name="Text 7"/>
          <p:cNvSpPr/>
          <p:nvPr/>
        </p:nvSpPr>
        <p:spPr>
          <a:xfrm>
            <a:off x="301752" y="1481328"/>
            <a:ext cx="261518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on Field Bean leaf images to detect anthracnose &amp; pod borer early, enabling proactive intervention before yield losses</a:t>
            </a: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7432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97280"/>
            <a:ext cx="2743200" cy="32918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113385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AI Agronomic Advisory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27832" y="1481328"/>
            <a:ext cx="261518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fine-tuned on crop science to answer farmer queries in Kannada/Telugu with real-time crop-specific recommendations.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097280"/>
            <a:ext cx="27432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097280"/>
            <a:ext cx="2743200" cy="32918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3912" y="113385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Reinforcement Learning for Fertilizer Scheduling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53912" y="1481328"/>
            <a:ext cx="261518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agents learning optimal fertilization schedules across simulated growing seasons, adapting to climate variability.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3017520"/>
            <a:ext cx="27432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017520"/>
            <a:ext cx="2743200" cy="32918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305409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IoT Soil Nutrient Sensors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1752" y="3401568"/>
            <a:ext cx="261518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N-P-K electrochemical probes transmitting real-time nutrient data, enabling dynamic dose adjustments during crop season</a:t>
            </a: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3017520"/>
            <a:ext cx="27432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5D403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3017520"/>
            <a:ext cx="2743200" cy="329184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7832" y="305409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UAV/Drone-Based Crop Monitoring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27832" y="3401568"/>
            <a:ext cx="261518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Multispectral drones scanning NDVI, NDRE, chlorophyll indices weekly for block-level yield forecasting and targeted intervention.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80760" y="3017520"/>
            <a:ext cx="27432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B3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3017520"/>
            <a:ext cx="2743200" cy="329184"/>
          </a:xfrm>
          <a:prstGeom prst="rect">
            <a:avLst/>
          </a:prstGeom>
          <a:solidFill>
            <a:srgbClr val="2E6B35"/>
          </a:solidFill>
          <a:ln w="12700">
            <a:solidFill>
              <a:srgbClr val="2E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3912" y="305409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Computing for Rural Connectivity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53912" y="3401568"/>
            <a:ext cx="261518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ML on Raspberry Pi / ESP32 brings AIML recommendations to smallholder farmers in villages with no internet.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1A3C1F"/>
          </a:solidFill>
          <a:ln w="12700">
            <a:solidFill>
              <a:srgbClr val="1A3C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65176" y="512064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Citations &amp; Literature Sources</a:t>
            </a:r>
            <a:endParaRPr lang="en-US" sz="14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4088524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24128"/>
            <a:ext cx="8321040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Adeyemi et al. (2017). Advanced monitoring and management systems for improving sustainability in precision irrigation. Sustainability, 9(3), 353.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Chlingaryan, A., Sukkarieh, S. and Whelan, B. (2018). Machine learning approaches for crop yield prediction and nitrogen status estimation. Computers and Electronics in Agriculture, 151, 61–69.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Dalai, S., Evoor, S., Mouje, R. and Hauchinamani, C.N. (2021). Effect of nutrient levels on growth, yield and economics of Dolichos bean in North Dry Zone of Karnataka. Legum. Res. Int. J., 1(3): 7.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FAO (2022). Digital Agriculture Report: Transforming Food and Agriculture through Digital Technologies. FAO, Rome.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Kamilaris, A. and Prenafeta-Boldu, F.X. (2018). Deep learning in agriculture: A survey. Computers and Electronics in Agriculture, 147, 70–90.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Liakos, K.G. et al. (2018). Machine learning in agriculture: A review. Sensors, 18(8), 2674.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Mohanty, S.P., Hughes, D.P. and Salathé, M. (2016). Using deep learning for image-based plant disease detection. Frontiers in Plant Science, 7, 1419.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Pantazi, X.E. et al. (2016). Wheat yield prediction using machine learning and advanced sensing techniques. Computers and Electronics in Agriculture, 121, 57–65.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Shrikanth, S. et al. (2008). Effect of spacings and fertilizer levels on crop growth and seed yield in lablab bean. Karnataka J. Agric. Sci., 21(3).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Ujjainiya, P. and Choudhary, M.R. (2021). Effect of nitrogen, phosphorus and bio fertilizer on green pod yield of Indian bean. J. Food Legumes, 28(4): 326–329.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van Klompenburg, T., Kassahun, A. and Catal, C. (2020). Crop yield prediction using machine learning: A systematic literature review. Computers and Electronics in Agriculture, 177, 105709.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Wolfert, S. et al. (2017). Big data in smart farming — A review. Agricultural Systems, 153, 69–80</a:t>
            </a: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3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2E6B35">
              <a:alpha val="40000"/>
            </a:srgbClr>
          </a:solidFill>
          <a:ln w="12700">
            <a:solidFill>
              <a:srgbClr val="2E6B3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4CAF50">
              <a:alpha val="35000"/>
            </a:srgbClr>
          </a:solidFill>
          <a:ln w="12700">
            <a:solidFill>
              <a:srgbClr val="4CAF50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3604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C1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587062" y="584091"/>
            <a:ext cx="596987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“Algorithms do not replace agronomy; they illuminate it”</a:t>
            </a: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2491</Words>
  <Application>Microsoft Office PowerPoint</Application>
  <PresentationFormat>On-screen Show (16:9)</PresentationFormat>
  <Paragraphs>414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Consolas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of AI &amp; ML in Agriculture</dc:title>
  <dc:subject>PptxGenJS Presentation</dc:subject>
  <dc:creator>LIKHITHRAJ T N, MADHUSUDHAN K, MANJANAIK</dc:creator>
  <cp:lastModifiedBy>Student</cp:lastModifiedBy>
  <cp:revision>11</cp:revision>
  <dcterms:created xsi:type="dcterms:W3CDTF">2026-04-02T03:50:23Z</dcterms:created>
  <dcterms:modified xsi:type="dcterms:W3CDTF">2026-04-02T05:51:16Z</dcterms:modified>
</cp:coreProperties>
</file>